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67" r:id="rId2"/>
    <p:sldId id="275" r:id="rId3"/>
    <p:sldId id="265" r:id="rId4"/>
    <p:sldId id="268" r:id="rId5"/>
    <p:sldId id="263" r:id="rId6"/>
    <p:sldId id="276" r:id="rId7"/>
    <p:sldId id="266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7" autoAdjust="0"/>
    <p:restoredTop sz="88526" autoAdjust="0"/>
  </p:normalViewPr>
  <p:slideViewPr>
    <p:cSldViewPr snapToGrid="0">
      <p:cViewPr varScale="1">
        <p:scale>
          <a:sx n="124" d="100"/>
          <a:sy n="124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C6916-CA92-45C5-AEE9-64DE4C111123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62760-4E93-40BF-855E-460F7FAF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86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llama.com/library/mistral-large-3" TargetMode="External"/><Relationship Id="rId2" Type="http://schemas.openxmlformats.org/officeDocument/2006/relationships/hyperlink" Target="https://ollama.com/library/cogito-2.1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share/e09c13ec1073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1E9B-1D1F-0BFB-EA4E-0821A657C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F89175-9900-1828-6190-850012EB4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1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181D-9B89-16B7-F629-5144C9ED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A56A1-F6AB-D5A2-DE83-01C5B7B7E9D8}"/>
              </a:ext>
            </a:extLst>
          </p:cNvPr>
          <p:cNvSpPr txBox="1">
            <a:spLocks/>
          </p:cNvSpPr>
          <p:nvPr/>
        </p:nvSpPr>
        <p:spPr>
          <a:xfrm>
            <a:off x="446076" y="342708"/>
            <a:ext cx="9144000" cy="4642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5400" b="1" dirty="0">
                <a:highlight>
                  <a:srgbClr val="C0C0C0"/>
                </a:highlight>
              </a:rPr>
              <a:t>ollama LightRAG demo</a:t>
            </a:r>
          </a:p>
          <a:p>
            <a:endParaRPr lang="en-IN" sz="5400" b="1" dirty="0">
              <a:highlight>
                <a:srgbClr val="C0C0C0"/>
              </a:highlight>
            </a:endParaRPr>
          </a:p>
          <a:p>
            <a:r>
              <a:rPr lang="en-IN" sz="5400" b="1" dirty="0">
                <a:highlight>
                  <a:srgbClr val="C0C0C0"/>
                </a:highlight>
              </a:rPr>
              <a:t>Good alternative </a:t>
            </a:r>
          </a:p>
          <a:p>
            <a:r>
              <a:rPr lang="en-IN" sz="5400" b="1" dirty="0">
                <a:highlight>
                  <a:srgbClr val="C0C0C0"/>
                </a:highlight>
              </a:rPr>
              <a:t>for OpenAI / Gemini</a:t>
            </a:r>
          </a:p>
          <a:p>
            <a:endParaRPr lang="en-IN" sz="5400" b="1" dirty="0">
              <a:highlight>
                <a:srgbClr val="C0C0C0"/>
              </a:highlight>
            </a:endParaRPr>
          </a:p>
          <a:p>
            <a:r>
              <a:rPr lang="en-US" sz="5400" dirty="0">
                <a:highlight>
                  <a:srgbClr val="C0C0C0"/>
                </a:highlight>
              </a:rPr>
              <a:t>LightRAG is a faster, </a:t>
            </a:r>
          </a:p>
          <a:p>
            <a:r>
              <a:rPr lang="en-US" sz="5400" dirty="0">
                <a:highlight>
                  <a:srgbClr val="C0C0C0"/>
                </a:highlight>
              </a:rPr>
              <a:t>more  context-aware </a:t>
            </a:r>
          </a:p>
          <a:p>
            <a:r>
              <a:rPr lang="en-US" sz="5400" dirty="0">
                <a:highlight>
                  <a:srgbClr val="C0C0C0"/>
                </a:highlight>
              </a:rPr>
              <a:t>evolution of standard RAG</a:t>
            </a:r>
            <a:endParaRPr lang="en-IN" sz="5400" b="1" dirty="0">
              <a:highlight>
                <a:srgbClr val="C0C0C0"/>
              </a:highligh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162F76-F0E1-C123-CDDA-D40F6985B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725" y="3746967"/>
            <a:ext cx="2333275" cy="311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98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6D5E5-A7B9-FAEB-394B-5BCE2E569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9B7A76-4F4A-F2E6-5546-355204D8902F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Light RAG demo</a:t>
            </a:r>
          </a:p>
          <a:p>
            <a:r>
              <a:rPr lang="en-IN" sz="3300" b="1" dirty="0">
                <a:highlight>
                  <a:srgbClr val="C0C0C0"/>
                </a:highlight>
              </a:rPr>
              <a:t>Retrieval-Augmented Generation</a:t>
            </a:r>
          </a:p>
          <a:p>
            <a:endParaRPr lang="en-IN" sz="3200" b="1" dirty="0">
              <a:highlight>
                <a:srgbClr val="C0C0C0"/>
              </a:highlight>
            </a:endParaRPr>
          </a:p>
          <a:p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35D192C-6AFE-271A-408D-F659DF692121}"/>
              </a:ext>
            </a:extLst>
          </p:cNvPr>
          <p:cNvSpPr txBox="1">
            <a:spLocks/>
          </p:cNvSpPr>
          <p:nvPr/>
        </p:nvSpPr>
        <p:spPr>
          <a:xfrm>
            <a:off x="729562" y="1535184"/>
            <a:ext cx="10596704" cy="5183667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IN" sz="3600" dirty="0"/>
              <a:t>An advanced, graph-enhanced retrieval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Designed for higher accuracy and faster response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3600" dirty="0"/>
              <a:t>Cost-effective performance </a:t>
            </a:r>
            <a:r>
              <a:rPr lang="en-US" sz="3600" dirty="0"/>
              <a:t>compared to traditional, vector-based RAG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It bridges the gap between simple vector RAG and complex GraphRAG by mapping entity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13508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6490A-17D4-8A3B-3564-D79D4BD6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66ABDE-F8EA-291B-ADD6-B4976B0658D4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Light RAG demo</a:t>
            </a:r>
          </a:p>
          <a:p>
            <a:r>
              <a:rPr lang="en-IN" sz="3300" b="1" dirty="0">
                <a:highlight>
                  <a:srgbClr val="C0C0C0"/>
                </a:highlight>
              </a:rPr>
              <a:t>Retrieval-Augmented Generation</a:t>
            </a:r>
          </a:p>
          <a:p>
            <a:endParaRPr lang="en-IN" sz="3200" b="1" dirty="0">
              <a:highlight>
                <a:srgbClr val="C0C0C0"/>
              </a:highlight>
            </a:endParaRPr>
          </a:p>
          <a:p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C3E73F3-5E0A-5F0C-4396-1FDC8FAD8804}"/>
              </a:ext>
            </a:extLst>
          </p:cNvPr>
          <p:cNvSpPr txBox="1">
            <a:spLocks/>
          </p:cNvSpPr>
          <p:nvPr/>
        </p:nvSpPr>
        <p:spPr>
          <a:xfrm>
            <a:off x="729561" y="1535184"/>
            <a:ext cx="10957853" cy="4927088"/>
          </a:xfrm>
          <a:prstGeom prst="rect">
            <a:avLst/>
          </a:prstGeom>
        </p:spPr>
        <p:txBody>
          <a:bodyPr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Retrieval Approach:</a:t>
            </a:r>
            <a:r>
              <a:rPr lang="en-US" sz="2400" dirty="0"/>
              <a:t> Traditional RAG relies on semantic similarity (vector distance) of text chunks. LightRAG uses a hybrid approach, leveraging a lightweight graph structure to index entity relationships along with vectors.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Context &amp; Accuracy:</a:t>
            </a:r>
            <a:r>
              <a:rPr lang="en-US" sz="2400" dirty="0"/>
              <a:t> LightRAG excels at understanding complex connections, providing richer, context-aware, and more precise answers, particularly when comparing against traditional methods in testing.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Efficiency:</a:t>
            </a:r>
            <a:r>
              <a:rPr lang="en-US" sz="2400" dirty="0"/>
              <a:t> LightRAG reduces query latency by approximately 30% compared to traditional RAG.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Updates:</a:t>
            </a:r>
            <a:r>
              <a:rPr lang="en-US" sz="2400" dirty="0"/>
              <a:t> LightRAG is designed for efficient, incremental updates (appending data) without needing full re-indexing, which is often required in heavy graph systems.</a:t>
            </a:r>
          </a:p>
        </p:txBody>
      </p:sp>
    </p:spTree>
    <p:extLst>
      <p:ext uri="{BB962C8B-B14F-4D97-AF65-F5344CB8AC3E}">
        <p14:creationId xmlns:p14="http://schemas.microsoft.com/office/powerpoint/2010/main" val="382874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F9F24-C9C6-86D7-CE88-05DC1E56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E7B1A3-C2F3-13EC-060A-682F88919E34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635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highlight>
                  <a:srgbClr val="C0C0C0"/>
                </a:highlight>
              </a:rPr>
              <a:t>Setup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323431-F6DB-13E1-920A-C60F132E6FE2}"/>
              </a:ext>
            </a:extLst>
          </p:cNvPr>
          <p:cNvSpPr txBox="1">
            <a:spLocks/>
          </p:cNvSpPr>
          <p:nvPr/>
        </p:nvSpPr>
        <p:spPr>
          <a:xfrm>
            <a:off x="645672" y="894555"/>
            <a:ext cx="7783713" cy="537161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3600" dirty="0"/>
              <a:t>Download and install Ollama local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AI model pulling on local – pros / cons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AI model on cloud                                                                      ollama run gpt-oss:120b-</a:t>
            </a:r>
            <a:r>
              <a:rPr lang="en-US" sz="3600" dirty="0">
                <a:highlight>
                  <a:srgbClr val="FFFF00"/>
                </a:highlight>
              </a:rPr>
              <a:t>cloud</a:t>
            </a:r>
            <a:r>
              <a:rPr lang="en-US" sz="3600" dirty="0"/>
              <a:t>                                                     ollama run </a:t>
            </a:r>
            <a:r>
              <a:rPr lang="en-IN" sz="3600" dirty="0"/>
              <a:t>cogito-2.1:671b-</a:t>
            </a:r>
            <a:r>
              <a:rPr lang="en-IN" sz="3600" dirty="0">
                <a:highlight>
                  <a:srgbClr val="FFFF00"/>
                </a:highlight>
              </a:rPr>
              <a:t>cloud</a:t>
            </a:r>
            <a:r>
              <a:rPr lang="en-IN" sz="3600" dirty="0"/>
              <a:t>                                                                  ollama run mistral-large-3:675b-</a:t>
            </a:r>
            <a:r>
              <a:rPr lang="en-IN" sz="3600" dirty="0">
                <a:highlight>
                  <a:srgbClr val="FFFF00"/>
                </a:highlight>
              </a:rPr>
              <a:t>cloud</a:t>
            </a:r>
            <a:endParaRPr lang="en-US" sz="3600" dirty="0"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Cloud model free credits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Sign in on web / local</a:t>
            </a:r>
          </a:p>
          <a:p>
            <a:pPr marL="457200" indent="-457200">
              <a:buFont typeface="+mj-lt"/>
              <a:buAutoNum type="arabicPeriod"/>
            </a:pPr>
            <a:endParaRPr lang="en-US" sz="3600" dirty="0"/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Python 3.11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75235-CD35-FEC3-F2DA-D8F3DADEFE30}"/>
              </a:ext>
            </a:extLst>
          </p:cNvPr>
          <p:cNvSpPr txBox="1"/>
          <p:nvPr/>
        </p:nvSpPr>
        <p:spPr>
          <a:xfrm>
            <a:off x="9067688" y="2843092"/>
            <a:ext cx="1736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Links:</a:t>
            </a:r>
          </a:p>
          <a:p>
            <a:r>
              <a:rPr lang="en-US" dirty="0">
                <a:hlinkClick r:id="rId2"/>
              </a:rPr>
              <a:t>cogito</a:t>
            </a:r>
            <a:endParaRPr lang="en-US" dirty="0"/>
          </a:p>
          <a:p>
            <a:r>
              <a:rPr lang="en-US" dirty="0">
                <a:hlinkClick r:id="rId3"/>
              </a:rPr>
              <a:t>mistral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73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A676-746A-5CB4-178A-2E7FB9B0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00FE34-36C9-9EF8-973C-DEC18D846A26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Light RAG demo – Gemini and Ollama prompt</a:t>
            </a:r>
          </a:p>
          <a:p>
            <a:r>
              <a:rPr lang="en-IN" sz="3300" b="1" dirty="0">
                <a:highlight>
                  <a:srgbClr val="C0C0C0"/>
                </a:highlight>
              </a:rPr>
              <a:t>Retrieval-Augmented Generation</a:t>
            </a:r>
          </a:p>
          <a:p>
            <a:endParaRPr lang="en-IN" sz="3200" b="1" dirty="0">
              <a:highlight>
                <a:srgbClr val="C0C0C0"/>
              </a:highlight>
            </a:endParaRPr>
          </a:p>
          <a:p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E9B7B49-B708-D751-B8C5-7068E3E22104}"/>
              </a:ext>
            </a:extLst>
          </p:cNvPr>
          <p:cNvSpPr txBox="1">
            <a:spLocks/>
          </p:cNvSpPr>
          <p:nvPr/>
        </p:nvSpPr>
        <p:spPr>
          <a:xfrm>
            <a:off x="729562" y="1535184"/>
            <a:ext cx="9943562" cy="2813979"/>
          </a:xfrm>
          <a:prstGeom prst="rect">
            <a:avLst/>
          </a:prstGeom>
        </p:spPr>
        <p:txBody>
          <a:bodyPr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hlinkClick r:id="rId2"/>
              </a:rPr>
              <a:t>https://gemini.google.com/share/e09c13ec1073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Ollama local window – with </a:t>
            </a:r>
            <a:r>
              <a:rPr lang="en-US" sz="2400" b="1" dirty="0" err="1"/>
              <a:t>qwencode</a:t>
            </a:r>
            <a:r>
              <a:rPr lang="en-US" sz="2400" b="1" dirty="0"/>
              <a:t> 3 model assisted coding</a:t>
            </a:r>
          </a:p>
        </p:txBody>
      </p:sp>
    </p:spTree>
    <p:extLst>
      <p:ext uri="{BB962C8B-B14F-4D97-AF65-F5344CB8AC3E}">
        <p14:creationId xmlns:p14="http://schemas.microsoft.com/office/powerpoint/2010/main" val="167220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A583-F221-E13A-EE3E-B3FC5AEA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596CBB-55AC-FD39-5919-930948FAEBDD}"/>
              </a:ext>
            </a:extLst>
          </p:cNvPr>
          <p:cNvSpPr txBox="1">
            <a:spLocks/>
          </p:cNvSpPr>
          <p:nvPr/>
        </p:nvSpPr>
        <p:spPr>
          <a:xfrm>
            <a:off x="729562" y="259359"/>
            <a:ext cx="11094028" cy="680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Use Cases</a:t>
            </a:r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8AFF2D6-BABA-B3D2-EA8C-1DE534197241}"/>
              </a:ext>
            </a:extLst>
          </p:cNvPr>
          <p:cNvSpPr txBox="1">
            <a:spLocks/>
          </p:cNvSpPr>
          <p:nvPr/>
        </p:nvSpPr>
        <p:spPr>
          <a:xfrm>
            <a:off x="729562" y="940166"/>
            <a:ext cx="11188374" cy="5537474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highlight>
                  <a:srgbClr val="00FF00"/>
                </a:highlight>
              </a:rPr>
              <a:t>The "Needle in a Haystack" Test</a:t>
            </a:r>
            <a:endParaRPr lang="en-US" sz="3200" dirty="0">
              <a:highlight>
                <a:srgbClr val="00FF00"/>
              </a:highlight>
            </a:endParaRPr>
          </a:p>
          <a:p>
            <a:r>
              <a:rPr lang="en-US" sz="3200" b="1" dirty="0"/>
              <a:t>Objective:</a:t>
            </a:r>
            <a:r>
              <a:rPr lang="en-US" sz="3200" dirty="0"/>
              <a:t> specific entity retrieval from the middle of a long context.</a:t>
            </a:r>
          </a:p>
          <a:p>
            <a:r>
              <a:rPr lang="en-US" sz="3200" b="1" dirty="0"/>
              <a:t>Text Input:</a:t>
            </a:r>
            <a:r>
              <a:rPr lang="en-US" sz="3200" dirty="0"/>
              <a:t> A 1800-word corporate policy document. Buried in paragraph 42 is a specific clause: "Remote work is only permitted on Tuesdays for Level 4 employees."</a:t>
            </a:r>
          </a:p>
          <a:p>
            <a:r>
              <a:rPr lang="en-US" sz="3200" b="1" dirty="0"/>
              <a:t>Query:</a:t>
            </a:r>
            <a:r>
              <a:rPr lang="en-US" sz="3200" dirty="0"/>
              <a:t> "Which employees are allowed to work from home and when?"</a:t>
            </a:r>
          </a:p>
          <a:p>
            <a:r>
              <a:rPr lang="en-US" sz="3200" b="1" dirty="0"/>
              <a:t>Expected Output:</a:t>
            </a:r>
            <a:r>
              <a:rPr lang="en-US" sz="3200" dirty="0"/>
              <a:t> "Level 4 employees are permitted to work remotely on Tuesdays."</a:t>
            </a:r>
          </a:p>
        </p:txBody>
      </p:sp>
    </p:spTree>
    <p:extLst>
      <p:ext uri="{BB962C8B-B14F-4D97-AF65-F5344CB8AC3E}">
        <p14:creationId xmlns:p14="http://schemas.microsoft.com/office/powerpoint/2010/main" val="186185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E475C-9686-3567-0A39-138A431B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A262C6-6CB7-58E9-D937-8A8F077B88C3}"/>
              </a:ext>
            </a:extLst>
          </p:cNvPr>
          <p:cNvSpPr txBox="1">
            <a:spLocks/>
          </p:cNvSpPr>
          <p:nvPr/>
        </p:nvSpPr>
        <p:spPr>
          <a:xfrm>
            <a:off x="729562" y="259359"/>
            <a:ext cx="11094028" cy="680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Use Cases</a:t>
            </a:r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2072DB3-D591-88A5-8498-3B470B70A425}"/>
              </a:ext>
            </a:extLst>
          </p:cNvPr>
          <p:cNvSpPr txBox="1">
            <a:spLocks/>
          </p:cNvSpPr>
          <p:nvPr/>
        </p:nvSpPr>
        <p:spPr>
          <a:xfrm>
            <a:off x="729562" y="940166"/>
            <a:ext cx="11188374" cy="5537474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highlight>
                  <a:srgbClr val="00FF00"/>
                </a:highlight>
              </a:rPr>
              <a:t>List Aggregation</a:t>
            </a:r>
            <a:endParaRPr lang="en-US" sz="3200" dirty="0">
              <a:highlight>
                <a:srgbClr val="00FF00"/>
              </a:highlight>
            </a:endParaRPr>
          </a:p>
          <a:p>
            <a:r>
              <a:rPr lang="en-US" sz="3200" b="1" dirty="0"/>
              <a:t>Objective:</a:t>
            </a:r>
            <a:r>
              <a:rPr lang="en-US" sz="3200" dirty="0"/>
              <a:t> Verify the system can scan the entire window to collect scattered items.</a:t>
            </a:r>
          </a:p>
          <a:p>
            <a:r>
              <a:rPr lang="en-US" sz="3200" b="1" dirty="0"/>
              <a:t>Text Input:</a:t>
            </a:r>
            <a:r>
              <a:rPr lang="en-US" sz="3200" dirty="0"/>
              <a:t> A 1500-word recipe book intro describing 15 different spices across various paragraphs.</a:t>
            </a:r>
          </a:p>
          <a:p>
            <a:r>
              <a:rPr lang="en-US" sz="3200" b="1" dirty="0"/>
              <a:t>Query:</a:t>
            </a:r>
            <a:r>
              <a:rPr lang="en-US" sz="3200" dirty="0"/>
              <a:t> "List all spices mentioned in the text."</a:t>
            </a:r>
          </a:p>
          <a:p>
            <a:r>
              <a:rPr lang="en-US" sz="3200" b="1" dirty="0"/>
              <a:t>Expected Output:</a:t>
            </a:r>
            <a:r>
              <a:rPr lang="en-US" sz="3200" dirty="0"/>
              <a:t> A comprehensive list of all 15 spices, with no hallucinations or omissions.</a:t>
            </a:r>
          </a:p>
        </p:txBody>
      </p:sp>
    </p:spTree>
    <p:extLst>
      <p:ext uri="{BB962C8B-B14F-4D97-AF65-F5344CB8AC3E}">
        <p14:creationId xmlns:p14="http://schemas.microsoft.com/office/powerpoint/2010/main" val="255428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15CE0-68E9-DB00-1649-CB6AD6C5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212BE-E571-133D-3296-8B56EA8CDBFC}"/>
              </a:ext>
            </a:extLst>
          </p:cNvPr>
          <p:cNvSpPr txBox="1">
            <a:spLocks/>
          </p:cNvSpPr>
          <p:nvPr/>
        </p:nvSpPr>
        <p:spPr>
          <a:xfrm>
            <a:off x="729562" y="259359"/>
            <a:ext cx="11094028" cy="680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Use Cases</a:t>
            </a:r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B54074E-F289-B5D8-2EA3-8560B21EDB86}"/>
              </a:ext>
            </a:extLst>
          </p:cNvPr>
          <p:cNvSpPr txBox="1">
            <a:spLocks/>
          </p:cNvSpPr>
          <p:nvPr/>
        </p:nvSpPr>
        <p:spPr>
          <a:xfrm>
            <a:off x="729562" y="940166"/>
            <a:ext cx="11188374" cy="553747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highlight>
                  <a:srgbClr val="FFFF00"/>
                </a:highlight>
              </a:rPr>
              <a:t>Negative Testing (Error Handling)</a:t>
            </a:r>
          </a:p>
          <a:p>
            <a:pPr marL="0" indent="0">
              <a:buNone/>
            </a:pPr>
            <a:r>
              <a:rPr lang="en-US" sz="3200" i="1" dirty="0"/>
              <a:t>Verifying the system gracefully handles failure.</a:t>
            </a:r>
            <a:endParaRPr lang="en-US" sz="3200" dirty="0"/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The "Absent Information" Trap</a:t>
            </a:r>
            <a:endParaRPr lang="en-US" sz="3200" dirty="0"/>
          </a:p>
          <a:p>
            <a:r>
              <a:rPr lang="en-US" sz="3200" b="1" dirty="0"/>
              <a:t>Objective:</a:t>
            </a:r>
            <a:r>
              <a:rPr lang="en-US" sz="3200" dirty="0"/>
              <a:t> Test hallucination resistance.</a:t>
            </a:r>
          </a:p>
          <a:p>
            <a:r>
              <a:rPr lang="en-US" sz="3200" b="1" dirty="0"/>
              <a:t>Text Input:</a:t>
            </a:r>
            <a:r>
              <a:rPr lang="en-US" sz="3200" dirty="0"/>
              <a:t> A 2000-word history of the Roman Empire.</a:t>
            </a:r>
          </a:p>
          <a:p>
            <a:r>
              <a:rPr lang="en-US" sz="3200" b="1" dirty="0"/>
              <a:t>Query:</a:t>
            </a:r>
            <a:r>
              <a:rPr lang="en-US" sz="3200" dirty="0"/>
              <a:t> "What role did Napoleon play in the Battle of Cannae?"</a:t>
            </a:r>
          </a:p>
          <a:p>
            <a:r>
              <a:rPr lang="en-US" sz="3200" b="1" dirty="0"/>
              <a:t>Expected Output:</a:t>
            </a:r>
            <a:r>
              <a:rPr lang="en-US" sz="3200" dirty="0"/>
              <a:t> "The provided text does not mention Napoleon or his role in the Battle of Cannae." (Must not invent a connection).</a:t>
            </a:r>
          </a:p>
        </p:txBody>
      </p:sp>
    </p:spTree>
    <p:extLst>
      <p:ext uri="{BB962C8B-B14F-4D97-AF65-F5344CB8AC3E}">
        <p14:creationId xmlns:p14="http://schemas.microsoft.com/office/powerpoint/2010/main" val="249333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A16E-FC65-E880-F471-56091BF2A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64AB69-1DB6-1EBF-C17E-6905101AF0A4}"/>
              </a:ext>
            </a:extLst>
          </p:cNvPr>
          <p:cNvSpPr txBox="1">
            <a:spLocks/>
          </p:cNvSpPr>
          <p:nvPr/>
        </p:nvSpPr>
        <p:spPr>
          <a:xfrm>
            <a:off x="729562" y="259359"/>
            <a:ext cx="11094028" cy="680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Use Cases</a:t>
            </a:r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F25F2D9-45C3-8909-05FC-9FFC99E06B62}"/>
              </a:ext>
            </a:extLst>
          </p:cNvPr>
          <p:cNvSpPr txBox="1">
            <a:spLocks/>
          </p:cNvSpPr>
          <p:nvPr/>
        </p:nvSpPr>
        <p:spPr>
          <a:xfrm>
            <a:off x="729562" y="940166"/>
            <a:ext cx="11188374" cy="5537474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highlight>
                  <a:srgbClr val="FFFF00"/>
                </a:highlight>
              </a:rPr>
              <a:t>Irrelevant Query Filtering</a:t>
            </a:r>
            <a:endParaRPr lang="en-US" sz="3200" dirty="0">
              <a:highlight>
                <a:srgbClr val="FFFF00"/>
              </a:highlight>
            </a:endParaRPr>
          </a:p>
          <a:p>
            <a:r>
              <a:rPr lang="en-US" sz="3200" b="1" dirty="0"/>
              <a:t>Objective:</a:t>
            </a:r>
            <a:r>
              <a:rPr lang="en-US" sz="3200" dirty="0"/>
              <a:t> Test context adherence.</a:t>
            </a:r>
          </a:p>
          <a:p>
            <a:r>
              <a:rPr lang="en-US" sz="3200" b="1" dirty="0"/>
              <a:t>Text Input:</a:t>
            </a:r>
            <a:r>
              <a:rPr lang="en-US" sz="3200" dirty="0"/>
              <a:t> A 1700-word technical manual for a dishwasher.</a:t>
            </a:r>
          </a:p>
          <a:p>
            <a:r>
              <a:rPr lang="en-US" sz="3200" b="1" dirty="0"/>
              <a:t>Query:</a:t>
            </a:r>
            <a:r>
              <a:rPr lang="en-US" sz="3200" dirty="0"/>
              <a:t> "What is the capital of France?"</a:t>
            </a:r>
          </a:p>
          <a:p>
            <a:r>
              <a:rPr lang="en-US" sz="3200" b="1" dirty="0"/>
              <a:t>Expected Output:</a:t>
            </a:r>
            <a:r>
              <a:rPr lang="en-US" sz="3200" dirty="0"/>
              <a:t> "The provided text is a dishwasher manual and does not contain geographical information about France."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6281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6A447-1620-91BE-8CC5-288DD424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D4CAD0-4D1E-0E3D-9A65-3D91D5120199}"/>
              </a:ext>
            </a:extLst>
          </p:cNvPr>
          <p:cNvSpPr txBox="1">
            <a:spLocks/>
          </p:cNvSpPr>
          <p:nvPr/>
        </p:nvSpPr>
        <p:spPr>
          <a:xfrm>
            <a:off x="729562" y="259359"/>
            <a:ext cx="11094028" cy="680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Use Cases</a:t>
            </a:r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DCEFFB7-4918-052B-FC6F-7BABB4431EA0}"/>
              </a:ext>
            </a:extLst>
          </p:cNvPr>
          <p:cNvSpPr txBox="1">
            <a:spLocks/>
          </p:cNvSpPr>
          <p:nvPr/>
        </p:nvSpPr>
        <p:spPr>
          <a:xfrm>
            <a:off x="729562" y="940166"/>
            <a:ext cx="11188374" cy="5537474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highlight>
                  <a:srgbClr val="FFFF00"/>
                </a:highlight>
              </a:rPr>
              <a:t>The "Noise" Stress Test</a:t>
            </a:r>
            <a:endParaRPr lang="en-US" sz="3200" dirty="0">
              <a:highlight>
                <a:srgbClr val="FFFF00"/>
              </a:highlight>
            </a:endParaRPr>
          </a:p>
          <a:p>
            <a:r>
              <a:rPr lang="en-US" sz="3200" b="1" dirty="0"/>
              <a:t>Objective:</a:t>
            </a:r>
            <a:r>
              <a:rPr lang="en-US" sz="3200" dirty="0"/>
              <a:t> Test robustness against poor data quality (OCR errors, broken formatting).</a:t>
            </a:r>
          </a:p>
          <a:p>
            <a:r>
              <a:rPr lang="en-US" sz="3200" b="1" dirty="0"/>
              <a:t>Text Input:</a:t>
            </a:r>
            <a:r>
              <a:rPr lang="en-US" sz="3200" dirty="0"/>
              <a:t> 1600 words of messy text: "Th$e p#roject wi|| launch on M@y 5th."</a:t>
            </a:r>
          </a:p>
          <a:p>
            <a:r>
              <a:rPr lang="en-US" sz="3200" b="1" dirty="0"/>
              <a:t>Query:</a:t>
            </a:r>
            <a:r>
              <a:rPr lang="en-US" sz="3200" dirty="0"/>
              <a:t> "When is the launch date?"</a:t>
            </a:r>
          </a:p>
          <a:p>
            <a:r>
              <a:rPr lang="en-US" sz="3200" b="1" dirty="0"/>
              <a:t>Expected Output:</a:t>
            </a:r>
            <a:r>
              <a:rPr lang="en-US" sz="3200" dirty="0"/>
              <a:t> "May 5th." (System should normalize the noise)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497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42CDF-561B-B4E5-F75D-D438CC49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0CD931-95B6-1922-F9EA-1BD03F754972}"/>
              </a:ext>
            </a:extLst>
          </p:cNvPr>
          <p:cNvSpPr txBox="1">
            <a:spLocks/>
          </p:cNvSpPr>
          <p:nvPr/>
        </p:nvSpPr>
        <p:spPr>
          <a:xfrm>
            <a:off x="729562" y="259359"/>
            <a:ext cx="11094028" cy="680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Use Cases</a:t>
            </a:r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58D97E-1C8F-0AA5-BD14-47A335943CD6}"/>
              </a:ext>
            </a:extLst>
          </p:cNvPr>
          <p:cNvSpPr txBox="1">
            <a:spLocks/>
          </p:cNvSpPr>
          <p:nvPr/>
        </p:nvSpPr>
        <p:spPr>
          <a:xfrm>
            <a:off x="729562" y="940166"/>
            <a:ext cx="11188374" cy="5537474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highlight>
                  <a:srgbClr val="FFFF00"/>
                </a:highlight>
              </a:rPr>
              <a:t>Distractor Entities</a:t>
            </a:r>
            <a:endParaRPr lang="en-US" sz="3200" dirty="0">
              <a:highlight>
                <a:srgbClr val="FFFF00"/>
              </a:highlight>
            </a:endParaRPr>
          </a:p>
          <a:p>
            <a:r>
              <a:rPr lang="en-US" sz="3200" b="1" dirty="0"/>
              <a:t>Objective:</a:t>
            </a:r>
            <a:r>
              <a:rPr lang="en-US" sz="3200" dirty="0"/>
              <a:t> Test precision against similar entities.</a:t>
            </a:r>
          </a:p>
          <a:p>
            <a:r>
              <a:rPr lang="en-US" sz="3200" b="1" dirty="0"/>
              <a:t>Text Input:</a:t>
            </a:r>
            <a:r>
              <a:rPr lang="en-US" sz="3200" dirty="0"/>
              <a:t> A 1700-word bio of "John A. Smith" and "John B. Smith".</a:t>
            </a:r>
          </a:p>
          <a:p>
            <a:r>
              <a:rPr lang="en-US" sz="3200" b="1" dirty="0"/>
              <a:t>Query:</a:t>
            </a:r>
            <a:r>
              <a:rPr lang="en-US" sz="3200" dirty="0"/>
              <a:t> "Where was John Smith born?"</a:t>
            </a:r>
          </a:p>
          <a:p>
            <a:r>
              <a:rPr lang="en-US" sz="3200" b="1" dirty="0"/>
              <a:t>Expected Output:</a:t>
            </a:r>
            <a:r>
              <a:rPr lang="en-US" sz="3200" dirty="0"/>
              <a:t> "The text mentions two individuals: John A. Smith (born in London) and John B. Smith (born in Ohio). Please specify."</a:t>
            </a:r>
          </a:p>
        </p:txBody>
      </p:sp>
    </p:spTree>
    <p:extLst>
      <p:ext uri="{BB962C8B-B14F-4D97-AF65-F5344CB8AC3E}">
        <p14:creationId xmlns:p14="http://schemas.microsoft.com/office/powerpoint/2010/main" val="70610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354EC-8673-03F8-A7B4-7854ADD56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E0BE9F-28E7-FCA1-5DDE-807EE9DA1408}"/>
              </a:ext>
            </a:extLst>
          </p:cNvPr>
          <p:cNvSpPr txBox="1">
            <a:spLocks/>
          </p:cNvSpPr>
          <p:nvPr/>
        </p:nvSpPr>
        <p:spPr>
          <a:xfrm>
            <a:off x="729562" y="259359"/>
            <a:ext cx="11094028" cy="680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Use Cases</a:t>
            </a:r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11E76F9-31E7-E80C-B651-3579A8869416}"/>
              </a:ext>
            </a:extLst>
          </p:cNvPr>
          <p:cNvSpPr txBox="1">
            <a:spLocks/>
          </p:cNvSpPr>
          <p:nvPr/>
        </p:nvSpPr>
        <p:spPr>
          <a:xfrm>
            <a:off x="729562" y="940166"/>
            <a:ext cx="11188374" cy="5537474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highlight>
                  <a:srgbClr val="FFFF00"/>
                </a:highlight>
              </a:rPr>
              <a:t>Circular Reference Handling</a:t>
            </a:r>
            <a:endParaRPr lang="en-US" sz="3200" dirty="0">
              <a:highlight>
                <a:srgbClr val="FFFF00"/>
              </a:highlight>
            </a:endParaRPr>
          </a:p>
          <a:p>
            <a:r>
              <a:rPr lang="en-US" sz="3200" b="1" dirty="0"/>
              <a:t>Objective:</a:t>
            </a:r>
            <a:r>
              <a:rPr lang="en-US" sz="3200" dirty="0"/>
              <a:t> Test graph-traversal loops.</a:t>
            </a:r>
          </a:p>
          <a:p>
            <a:r>
              <a:rPr lang="en-US" sz="3200" b="1" dirty="0"/>
              <a:t>Text Input:</a:t>
            </a:r>
            <a:r>
              <a:rPr lang="en-US" sz="3200" dirty="0"/>
              <a:t> A 1500-word process doc. "Step 1 leads to Step 2. Step 2 refers back to Step 1 for verification."</a:t>
            </a:r>
          </a:p>
          <a:p>
            <a:r>
              <a:rPr lang="en-US" sz="3200" b="1" dirty="0"/>
              <a:t>Query:</a:t>
            </a:r>
            <a:r>
              <a:rPr lang="en-US" sz="3200" dirty="0"/>
              <a:t> "What is the outcome of the process?"</a:t>
            </a:r>
          </a:p>
          <a:p>
            <a:r>
              <a:rPr lang="en-US" sz="3200" b="1" dirty="0"/>
              <a:t>Expected Output:</a:t>
            </a:r>
            <a:r>
              <a:rPr lang="en-US" sz="3200" dirty="0"/>
              <a:t> "The process describes a loop between Step 1 and Step 2." (Should not crash or hang).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7379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{67A6D264-8BAF-407C-82F6-3A983AB9D80A}tf10001105</Template>
  <TotalTime>1261</TotalTime>
  <Words>744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Ratnamala Swami</dc:creator>
  <cp:lastModifiedBy>Ratnamala Swami</cp:lastModifiedBy>
  <cp:revision>110</cp:revision>
  <dcterms:created xsi:type="dcterms:W3CDTF">2025-12-10T17:46:59Z</dcterms:created>
  <dcterms:modified xsi:type="dcterms:W3CDTF">2026-02-11T08:04:01Z</dcterms:modified>
</cp:coreProperties>
</file>